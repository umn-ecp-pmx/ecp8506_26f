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70" r:id="rId10"/>
    <p:sldId id="263" r:id="rId11"/>
    <p:sldId id="269" r:id="rId12"/>
    <p:sldId id="268" r:id="rId13"/>
    <p:sldId id="273" r:id="rId14"/>
    <p:sldId id="264" r:id="rId15"/>
    <p:sldId id="272" r:id="rId16"/>
    <p:sldId id="271" r:id="rId17"/>
    <p:sldId id="274" r:id="rId18"/>
    <p:sldId id="278" r:id="rId19"/>
    <p:sldId id="265" r:id="rId20"/>
    <p:sldId id="282" r:id="rId21"/>
    <p:sldId id="275" r:id="rId22"/>
    <p:sldId id="276" r:id="rId23"/>
    <p:sldId id="277" r:id="rId24"/>
    <p:sldId id="281" r:id="rId25"/>
    <p:sldId id="280" r:id="rId26"/>
    <p:sldId id="279" r:id="rId27"/>
    <p:sldId id="283" r:id="rId28"/>
    <p:sldId id="26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55"/>
    <p:restoredTop sz="79806"/>
  </p:normalViewPr>
  <p:slideViewPr>
    <p:cSldViewPr snapToGrid="0">
      <p:cViewPr>
        <p:scale>
          <a:sx n="90" d="100"/>
          <a:sy n="90" d="100"/>
        </p:scale>
        <p:origin x="108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A5D252-2018-854C-A449-93D499E49C4B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C064A3-F08E-7A4E-82C6-0FDC6B48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357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064A3-F08E-7A4E-82C6-0FDC6B480F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19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marginal distributions into uniform distributions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copula model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Vine copula: </a:t>
            </a:r>
            <a:r>
              <a:rPr lang="en-US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rvinecopulib</a:t>
            </a:r>
            <a:endParaRPr 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Copula selection using AIC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the simulated uniform distributions into the original marginal distributions</a:t>
            </a:r>
          </a:p>
          <a:p>
            <a:endParaRPr lang="en-US" dirty="0"/>
          </a:p>
          <a:p>
            <a:r>
              <a:rPr lang="en-US" dirty="0"/>
              <a:t>A vine copula is a flexible way to model multivariate dependence by decompose multivariate distribution into a series of bivariate distribution. </a:t>
            </a:r>
          </a:p>
          <a:p>
            <a:r>
              <a:rPr lang="en-US" dirty="0"/>
              <a:t>It's not the only copula modeling approach.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064A3-F08E-7A4E-82C6-0FDC6B480FB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03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01C0-7218-2617-325C-CFDE92761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27B0AA-0196-094A-5072-1893E865F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21A41-7B97-8CEE-8055-B1EA7579E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FEA-245B-B449-B87B-A7E7B4221DF7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2EB20-A9CF-8FC3-B950-268347DF6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1B462-8F4F-2F7D-9ACD-DF327B8BA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54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47F07-6ABF-A53F-CABA-D0524E57C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E322D-2F0C-0DA4-4251-806AD9A6F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5568B-3127-9FD1-B48A-9ADC9904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7F34-76BE-3847-AB82-D979567AA9EC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1ED89-D4F4-A841-E646-CF365071E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E8640-C59C-B7AA-E40C-3A3A317F3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36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422B-EEA3-A153-148A-C1DAE9520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06001-65AF-90B0-E44B-5A9F598F1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5C3B0-4444-81F9-6F67-0F60E90B5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86D8-BF91-2443-B850-3381F762378C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B9485-6187-EC8B-CF84-573F89CB7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B40FA-C6A4-6027-2DF9-DE7696BEE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03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C086-72B0-4F6C-6C9B-D6F54120E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F9D59-FF16-E2A1-535B-CAC845C3E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41E4C-3A42-2985-A7E5-8D0FA28A0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4A745-4827-9849-0200-8E3A10DAE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F9ED-6E56-B940-80E0-84A4E61A45A2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63DB9-436E-728D-901D-C0FBBD6A9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B0B02-898F-629B-7344-0D4A6E3A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0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B25A-418D-1ACE-F62B-5EA62E6EF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F324F-9AF4-6F49-ACBA-CBB58AA6D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89A2-C379-B010-0BC7-53CC47FD7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2CA770-FDE2-CE09-9B86-71CE198A40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636E7E-0EDC-CAF1-FEBE-A51D9793B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AC17F7-6761-C9CF-4E0E-AD9D261E6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C244D-E909-2045-879D-D2C7BC34F273}" type="datetime1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52F138-C900-79EC-C926-0753ECE00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743784-F7D1-FB60-D2B6-9C06F903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95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8FC1-C46C-E9BA-7F98-1E2FA9297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4A240A-2FF5-F216-EC37-263A1A63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1F422-92C6-6041-985A-E0195D765DC6}" type="datetime1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B270C-1F1D-26E0-90CB-19FCCA32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46005-84DC-D211-7EE9-029750AA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10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141C99-6C5C-3687-2408-52EB5CE61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1E93-DBA8-3F47-87A2-3E19073B2176}" type="datetime1">
              <a:rPr lang="en-US" smtClean="0"/>
              <a:t>10/27/26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33DE01-FAA2-DACA-971B-73673A1DF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3BA4A-C444-417F-14AA-7DF45FFF5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75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205C-BEA7-BE6B-C290-AE805D30A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60F35-D6F6-EA65-280F-9014C08E8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46AC5-F2DA-F43B-771A-C5389A11A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6A5C0-47FB-7C23-6B5B-E8E46DE98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AAA0F-EE5A-DA4B-A61B-92EA5221E559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89F19-A745-190B-B6C2-9FCA9F23F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F7A79-0333-9A99-9D0C-C27595993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57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E34B-16D0-8E7C-036C-BF63098FB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ACBE56-D583-5124-13CB-DBB01870B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9E5512-1D48-1427-E80C-21796557F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30429-49F0-4533-65AF-2AE492F29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AD05-784B-6C4D-80A4-2C8FFE4822E1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E1B51-65E1-BE84-74D5-76A268951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40298-34A0-153F-BFE8-ED1C1DDEF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60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39368-5B02-69A4-0987-809F618A1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497F2-322C-13B0-3308-A93F6C3AB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3BAB4-517E-B356-3897-B1470353A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CE40F-B789-924A-8839-E330B0FFC025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B89CE-7615-5A25-A178-45B3211B3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94DD6-978D-2D50-4C3D-DC665CE2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48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711775-A806-5ADA-29DE-879514D65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3AAD5-69DD-3992-233A-006C0E101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8CDE1-D716-A439-EC63-DB4E6F5E4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58A0A-A815-1145-82CC-5F7230C766C8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11C86-0738-C8D1-7A13-2888D3E1F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BB52C-575A-7F52-0DDE-7598481DF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041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DAE0AA-8BC4-4737-76BB-A5E467F50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1D1A7-37E3-B920-5188-F3B528CD7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6DED3-C460-5156-67FC-525DDDEA10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815A97-F19A-3345-8D68-7E4AD3F9C62C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6C4DD-C0EB-A682-4B7B-293382D60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15C9C-65A7-A23C-34C1-E5F1984196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0048BB-FAF8-754C-AC6B-D15000126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02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nhasseltlab/pmxcopul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nhasseltlab/copula_vps" TargetMode="External"/><Relationship Id="rId2" Type="http://schemas.openxmlformats.org/officeDocument/2006/relationships/hyperlink" Target="https://doi.org/10.1002/cpt.309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cosim.lacdr.leidenuniv.nl/" TargetMode="External"/><Relationship Id="rId5" Type="http://schemas.openxmlformats.org/officeDocument/2006/relationships/hyperlink" Target="https://github.com/vanhasseltlab/NHANES_copula" TargetMode="External"/><Relationship Id="rId4" Type="http://schemas.openxmlformats.org/officeDocument/2006/relationships/hyperlink" Target="https://doi.org/10.1007/s10928-024-09929-4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24ACB-DA3C-070F-1C24-EA6D09DDAD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Patient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73CB6-F6D4-ADB0-CD24-F261E83507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Curtis K. Johnston &amp; Shen Cheng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11/20/2026</a:t>
            </a:r>
          </a:p>
        </p:txBody>
      </p:sp>
    </p:spTree>
    <p:extLst>
      <p:ext uri="{BB962C8B-B14F-4D97-AF65-F5344CB8AC3E}">
        <p14:creationId xmlns:p14="http://schemas.microsoft.com/office/powerpoint/2010/main" val="3840766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4DBCDC2C-51BA-EFD0-6183-33679E22D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00" y="161925"/>
            <a:ext cx="11156800" cy="63120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4515F-171F-7EEB-0D71-483B42512FD4}"/>
              </a:ext>
            </a:extLst>
          </p:cNvPr>
          <p:cNvSpPr/>
          <p:nvPr/>
        </p:nvSpPr>
        <p:spPr>
          <a:xfrm>
            <a:off x="10534650" y="6019800"/>
            <a:ext cx="6096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38B0E6-EDDD-B906-52A1-34CCA4A72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7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mathematical equation&#10;&#10;Description automatically generated with medium confidence">
            <a:extLst>
              <a:ext uri="{FF2B5EF4-FFF2-40B4-BE49-F238E27FC236}">
                <a16:creationId xmlns:a16="http://schemas.microsoft.com/office/drawing/2014/main" id="{9DE088DC-1B4E-2BFE-283F-32DCA6C3F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83" y="0"/>
            <a:ext cx="11607892" cy="65327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D76C0B-AE81-BDDC-F6C7-9FCEFE8EBC46}"/>
              </a:ext>
            </a:extLst>
          </p:cNvPr>
          <p:cNvSpPr/>
          <p:nvPr/>
        </p:nvSpPr>
        <p:spPr>
          <a:xfrm>
            <a:off x="10534650" y="6019800"/>
            <a:ext cx="6096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A0270E-0093-A550-625F-88BBD3C1D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6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C0B0-3F5D-2001-77BE-DF5DB1B3D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25"/>
            <a:ext cx="10515600" cy="83502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“Realistic” Virtual Population</a:t>
            </a:r>
          </a:p>
        </p:txBody>
      </p:sp>
      <p:pic>
        <p:nvPicPr>
          <p:cNvPr id="4" name="Picture 3" descr="A diagram of a patient's study&#10;&#10;Description automatically generated">
            <a:extLst>
              <a:ext uri="{FF2B5EF4-FFF2-40B4-BE49-F238E27FC236}">
                <a16:creationId xmlns:a16="http://schemas.microsoft.com/office/drawing/2014/main" id="{9F5DA41D-0F97-958D-438D-D22EF7D1E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85850"/>
            <a:ext cx="5923699" cy="48375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5074F9-1658-821B-DD03-D114FED4966D}"/>
              </a:ext>
            </a:extLst>
          </p:cNvPr>
          <p:cNvSpPr txBox="1"/>
          <p:nvPr/>
        </p:nvSpPr>
        <p:spPr>
          <a:xfrm>
            <a:off x="1006128" y="6166960"/>
            <a:ext cx="417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Zwep</a:t>
            </a:r>
            <a:r>
              <a:rPr lang="en-US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LB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al., </a:t>
            </a:r>
            <a:r>
              <a:rPr lang="en-US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Clin </a:t>
            </a:r>
            <a:r>
              <a:rPr lang="en-US" b="0" i="1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Pharmacol</a:t>
            </a:r>
            <a:r>
              <a:rPr lang="en-US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1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</a:t>
            </a:r>
            <a:r>
              <a:rPr lang="en-US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2023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D483C-A903-3361-9FF6-85203B68BCAA}"/>
              </a:ext>
            </a:extLst>
          </p:cNvPr>
          <p:cNvSpPr txBox="1"/>
          <p:nvPr/>
        </p:nvSpPr>
        <p:spPr>
          <a:xfrm>
            <a:off x="7138880" y="1192745"/>
            <a:ext cx="43673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Difficulties in simulating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realistic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virtual population: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covariates exhibit different distributions (i.e., marginal distributions)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Intricate dependency structure (i.e., correlation)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Unrealistic virtual patient example: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patient of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 years old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a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body weight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good kidney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Failing to consider such correlations inflate the variability of covariates, in other words, unrealistic virtual patients.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690667-D144-CEE7-271E-77E6AD1F8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96214-18F5-4E06-384E-0153515E1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725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of Virtual Patient 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44580-79FF-60A2-63FC-3EAF55274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7250"/>
            <a:ext cx="10515600" cy="476249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(Resample)-based methods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distributions 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Multiple Imputation by Chained Equations (MICE)</a:t>
            </a:r>
          </a:p>
          <a:p>
            <a:pPr marL="914400" lvl="2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Distribution-based methods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Marginal distributions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normal distributions (MVND)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Copula modeling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84C66CC-FF8D-0B38-E78D-FFD94BF4126C}"/>
              </a:ext>
            </a:extLst>
          </p:cNvPr>
          <p:cNvSpPr/>
          <p:nvPr/>
        </p:nvSpPr>
        <p:spPr>
          <a:xfrm>
            <a:off x="2600325" y="2505075"/>
            <a:ext cx="1381125" cy="8286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Population Data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18B885-49F9-0E11-A4C6-F0E35ACEA710}"/>
              </a:ext>
            </a:extLst>
          </p:cNvPr>
          <p:cNvSpPr/>
          <p:nvPr/>
        </p:nvSpPr>
        <p:spPr>
          <a:xfrm>
            <a:off x="5743575" y="2505074"/>
            <a:ext cx="1381125" cy="8286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Virtual population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DC878B-7C4D-06B0-5540-E90116A7B8D5}"/>
              </a:ext>
            </a:extLst>
          </p:cNvPr>
          <p:cNvCxnSpPr>
            <a:endCxn id="5" idx="1"/>
          </p:cNvCxnSpPr>
          <p:nvPr/>
        </p:nvCxnSpPr>
        <p:spPr>
          <a:xfrm>
            <a:off x="3981450" y="2919411"/>
            <a:ext cx="176212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4A71B61-A59B-6DD3-66EA-35A4AA7D6104}"/>
              </a:ext>
            </a:extLst>
          </p:cNvPr>
          <p:cNvSpPr/>
          <p:nvPr/>
        </p:nvSpPr>
        <p:spPr>
          <a:xfrm>
            <a:off x="2600325" y="5214937"/>
            <a:ext cx="1381125" cy="8286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Population Data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245FE18-00AF-CDA6-053A-782AE46F8AB7}"/>
              </a:ext>
            </a:extLst>
          </p:cNvPr>
          <p:cNvSpPr/>
          <p:nvPr/>
        </p:nvSpPr>
        <p:spPr>
          <a:xfrm>
            <a:off x="5743575" y="5214936"/>
            <a:ext cx="1381125" cy="82867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Population distribution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0C03960-7311-AF66-135B-6E4098787AC9}"/>
              </a:ext>
            </a:extLst>
          </p:cNvPr>
          <p:cNvCxnSpPr>
            <a:endCxn id="9" idx="1"/>
          </p:cNvCxnSpPr>
          <p:nvPr/>
        </p:nvCxnSpPr>
        <p:spPr>
          <a:xfrm>
            <a:off x="3981450" y="5629273"/>
            <a:ext cx="176212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E591569-55B4-9756-5D82-D8CE17E83731}"/>
              </a:ext>
            </a:extLst>
          </p:cNvPr>
          <p:cNvSpPr/>
          <p:nvPr/>
        </p:nvSpPr>
        <p:spPr>
          <a:xfrm>
            <a:off x="8886825" y="5219696"/>
            <a:ext cx="1381125" cy="8286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Virtual population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5463F9-CDA3-1A52-0A36-E5559EB90544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7124700" y="5629274"/>
            <a:ext cx="1762125" cy="4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3C114E1-A67F-E00D-41AF-8B7D2D1EE750}"/>
              </a:ext>
            </a:extLst>
          </p:cNvPr>
          <p:cNvSpPr/>
          <p:nvPr/>
        </p:nvSpPr>
        <p:spPr>
          <a:xfrm>
            <a:off x="2409825" y="2305050"/>
            <a:ext cx="4914900" cy="120015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D540C7-060F-AB6F-B1CB-1FFA9C0AFB61}"/>
              </a:ext>
            </a:extLst>
          </p:cNvPr>
          <p:cNvSpPr txBox="1"/>
          <p:nvPr/>
        </p:nvSpPr>
        <p:spPr>
          <a:xfrm>
            <a:off x="4562430" y="2535793"/>
            <a:ext cx="790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A3B54F-0FC9-3743-65F3-F84340067FEC}"/>
              </a:ext>
            </a:extLst>
          </p:cNvPr>
          <p:cNvSpPr txBox="1"/>
          <p:nvPr/>
        </p:nvSpPr>
        <p:spPr>
          <a:xfrm>
            <a:off x="4483883" y="2957034"/>
            <a:ext cx="947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Indirect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C04B6E0-91F6-2536-95EF-C017DAAED603}"/>
              </a:ext>
            </a:extLst>
          </p:cNvPr>
          <p:cNvSpPr/>
          <p:nvPr/>
        </p:nvSpPr>
        <p:spPr>
          <a:xfrm>
            <a:off x="2405061" y="5057296"/>
            <a:ext cx="8043863" cy="120015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B7AEA-63D6-D903-88BD-7C7412644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2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2F949D-514C-88BA-6B7C-468326F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5301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of Virtual Patient Simulations</a:t>
            </a:r>
          </a:p>
        </p:txBody>
      </p:sp>
      <p:pic>
        <p:nvPicPr>
          <p:cNvPr id="8" name="Picture 7" descr="A screenshot of a graph&#10;&#10;Description automatically generated">
            <a:extLst>
              <a:ext uri="{FF2B5EF4-FFF2-40B4-BE49-F238E27FC236}">
                <a16:creationId xmlns:a16="http://schemas.microsoft.com/office/drawing/2014/main" id="{4F16D3A4-3E11-297A-5224-85750ABA68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908" b="54015"/>
          <a:stretch/>
        </p:blipFill>
        <p:spPr>
          <a:xfrm>
            <a:off x="105660" y="3629737"/>
            <a:ext cx="7661024" cy="2191970"/>
          </a:xfrm>
          <a:prstGeom prst="rect">
            <a:avLst/>
          </a:prstGeom>
          <a:ln>
            <a:noFill/>
          </a:ln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C2DD2B-F5E5-A8E6-1702-2C0B88A85387}"/>
              </a:ext>
            </a:extLst>
          </p:cNvPr>
          <p:cNvSpPr txBox="1"/>
          <p:nvPr/>
        </p:nvSpPr>
        <p:spPr>
          <a:xfrm>
            <a:off x="1091282" y="5779376"/>
            <a:ext cx="2008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Ignore correlations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AF9622-AC80-9279-451F-BEF38A2FF037}"/>
              </a:ext>
            </a:extLst>
          </p:cNvPr>
          <p:cNvSpPr txBox="1"/>
          <p:nvPr/>
        </p:nvSpPr>
        <p:spPr>
          <a:xfrm>
            <a:off x="4750311" y="5779376"/>
            <a:ext cx="269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Distributional assumptions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944AA2-CFE6-B46C-ED78-9F5CB70C9453}"/>
              </a:ext>
            </a:extLst>
          </p:cNvPr>
          <p:cNvSpPr txBox="1"/>
          <p:nvPr/>
        </p:nvSpPr>
        <p:spPr>
          <a:xfrm>
            <a:off x="703579" y="6401238"/>
            <a:ext cx="2783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Zwep</a:t>
            </a:r>
            <a:r>
              <a:rPr lang="en-US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LB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al., PAGE</a:t>
            </a:r>
            <a:r>
              <a:rPr lang="en-US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2022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Afbeelding 24">
            <a:extLst>
              <a:ext uri="{FF2B5EF4-FFF2-40B4-BE49-F238E27FC236}">
                <a16:creationId xmlns:a16="http://schemas.microsoft.com/office/drawing/2014/main" id="{AA6D58A4-CC48-68E3-181E-9C3928604C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61" r="2089" b="2783"/>
          <a:stretch/>
        </p:blipFill>
        <p:spPr>
          <a:xfrm>
            <a:off x="7871346" y="4190772"/>
            <a:ext cx="2101216" cy="2014214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44F2DC2-5980-44B2-71F7-C9AE30173419}"/>
              </a:ext>
            </a:extLst>
          </p:cNvPr>
          <p:cNvSpPr txBox="1"/>
          <p:nvPr/>
        </p:nvSpPr>
        <p:spPr>
          <a:xfrm>
            <a:off x="8167014" y="3760223"/>
            <a:ext cx="1606530" cy="338554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Copula modeling</a:t>
            </a:r>
          </a:p>
        </p:txBody>
      </p:sp>
      <p:pic>
        <p:nvPicPr>
          <p:cNvPr id="16" name="Picture 15" descr="A screenshot of a graph&#10;&#10;Description automatically generated">
            <a:extLst>
              <a:ext uri="{FF2B5EF4-FFF2-40B4-BE49-F238E27FC236}">
                <a16:creationId xmlns:a16="http://schemas.microsoft.com/office/drawing/2014/main" id="{409AA543-1054-EDCD-BC81-C36665217A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016" r="5523" b="1046"/>
          <a:stretch/>
        </p:blipFill>
        <p:spPr>
          <a:xfrm>
            <a:off x="118945" y="810771"/>
            <a:ext cx="7850165" cy="21919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/>
        </p:spPr>
      </p:pic>
      <p:pic>
        <p:nvPicPr>
          <p:cNvPr id="17" name="Picture 16" descr="A screenshot of a graph&#10;&#10;Description automatically generated">
            <a:extLst>
              <a:ext uri="{FF2B5EF4-FFF2-40B4-BE49-F238E27FC236}">
                <a16:creationId xmlns:a16="http://schemas.microsoft.com/office/drawing/2014/main" id="{D818CF82-2A93-155A-B0B9-17AE2A25EA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093" b="54015"/>
          <a:stretch/>
        </p:blipFill>
        <p:spPr>
          <a:xfrm>
            <a:off x="10077224" y="3773670"/>
            <a:ext cx="1654130" cy="1904103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1C331C-0E86-2CC6-5C28-164C356317E7}"/>
              </a:ext>
            </a:extLst>
          </p:cNvPr>
          <p:cNvSpPr txBox="1"/>
          <p:nvPr/>
        </p:nvSpPr>
        <p:spPr>
          <a:xfrm>
            <a:off x="808519" y="2466946"/>
            <a:ext cx="2036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Need actual data</a:t>
            </a:r>
          </a:p>
          <a:p>
            <a:r>
              <a:rPr lang="en-US" dirty="0">
                <a:solidFill>
                  <a:srgbClr val="FF0000"/>
                </a:solidFill>
              </a:rPr>
              <a:t>Cannot extrapolate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B5E20F-3AC1-1BC3-8A22-B019EBA9A401}"/>
              </a:ext>
            </a:extLst>
          </p:cNvPr>
          <p:cNvSpPr txBox="1"/>
          <p:nvPr/>
        </p:nvSpPr>
        <p:spPr>
          <a:xfrm>
            <a:off x="3957927" y="2984261"/>
            <a:ext cx="2898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Need actual data (indirectly)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AD1E552-4ECA-14D7-A067-DBB9F533C298}"/>
              </a:ext>
            </a:extLst>
          </p:cNvPr>
          <p:cNvSpPr/>
          <p:nvPr/>
        </p:nvSpPr>
        <p:spPr>
          <a:xfrm>
            <a:off x="118945" y="709292"/>
            <a:ext cx="8100024" cy="26681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CC0AFA1-789E-B670-CD37-4B0146B82D8B}"/>
              </a:ext>
            </a:extLst>
          </p:cNvPr>
          <p:cNvSpPr/>
          <p:nvPr/>
        </p:nvSpPr>
        <p:spPr>
          <a:xfrm>
            <a:off x="118945" y="3555265"/>
            <a:ext cx="11720629" cy="26681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6B9BCB-63F8-9420-8C59-9EED69D8B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194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887AA-D02F-36AD-125F-74BB39F4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5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Distribution-Based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D50B6-81C1-F268-98A5-8BED32CAB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5600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Marginal distributions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normal distributions (MVND)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Copula modeling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D84E3-2C29-A5EA-5294-3DA12C7E4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3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C477D-7059-E4FF-5785-C8CD0F60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3324" y="58223"/>
            <a:ext cx="3780539" cy="81807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9CB195-2E87-4791-7B19-E60331B4F3B3}"/>
              </a:ext>
            </a:extLst>
          </p:cNvPr>
          <p:cNvSpPr txBox="1"/>
          <p:nvPr/>
        </p:nvSpPr>
        <p:spPr>
          <a:xfrm>
            <a:off x="8110536" y="876301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./wk11/data/</a:t>
            </a:r>
            <a:r>
              <a:rPr lang="en-US" u="sng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pop.csv</a:t>
            </a:r>
            <a:endParaRPr lang="en-US" u="sng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6A6642-B872-2E76-667C-5FFC85454C67}"/>
              </a:ext>
            </a:extLst>
          </p:cNvPr>
          <p:cNvSpPr txBox="1"/>
          <p:nvPr/>
        </p:nvSpPr>
        <p:spPr>
          <a:xfrm>
            <a:off x="7317315" y="1553641"/>
            <a:ext cx="4694112" cy="4197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 covariates: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 age in years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WT: body weight in kg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HT: height in cm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EGFR: estimated </a:t>
            </a:r>
            <a:r>
              <a:rPr lang="en-US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glomerular filtration rate in mL/min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ALB: albumin concentration in g/dL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SEX: gender (male vs female)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B8EB8D-B095-A592-F15F-5F02DF303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774D2C-88C2-294E-E416-D24814F89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18" y="70374"/>
            <a:ext cx="6717252" cy="671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18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26753-8C4C-EE6E-EC50-0725F047D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316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51291-5C6A-25BE-082A-B0FBB5861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822" y="1854501"/>
            <a:ext cx="11105619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the population data based on SEX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two distributions, one for male, one for female, using different method: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Marginal distributions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normal distributions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Copula modeling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from the derived distributions 100 times for simulation method evaluation.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simulation from the derived distributions(n=1)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simulated data with the population data, determine which method simulate the most “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realistic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data (i.e., most similar to population data).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46509-6E0C-3DAB-466C-563CF76A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400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8501-B6F5-83D3-884E-0FE0A721D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Marginal Distributions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9A09CC-4149-287D-7A60-71FDD11050F0}"/>
              </a:ext>
            </a:extLst>
          </p:cNvPr>
          <p:cNvSpPr txBox="1"/>
          <p:nvPr/>
        </p:nvSpPr>
        <p:spPr>
          <a:xfrm>
            <a:off x="552450" y="6123543"/>
            <a:ext cx="5671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Meccanismo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Complesso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Marginal probability. 12/11/2023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6BAB5-F692-5399-F7A2-5F94858385E9}"/>
              </a:ext>
            </a:extLst>
          </p:cNvPr>
          <p:cNvSpPr txBox="1"/>
          <p:nvPr/>
        </p:nvSpPr>
        <p:spPr>
          <a:xfrm>
            <a:off x="6591300" y="2100962"/>
            <a:ext cx="4584701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Derive </a:t>
            </a:r>
            <a:r>
              <a:rPr lang="en-US" u="sng" dirty="0"/>
              <a:t>the means and standard deviations (SDs) of each variable</a:t>
            </a:r>
            <a:r>
              <a:rPr lang="en-US" dirty="0"/>
              <a:t> in the population dataset.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Sample from a </a:t>
            </a:r>
            <a:r>
              <a:rPr lang="en-US" u="sng" dirty="0"/>
              <a:t>(truncated) normal distribution (or other distributions)</a:t>
            </a:r>
            <a:r>
              <a:rPr lang="en-US" dirty="0"/>
              <a:t> with the same mean and SD of each variable.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9" name="Picture 8" descr="A diagram of a function&#10;&#10;Description automatically generated with medium confidence">
            <a:extLst>
              <a:ext uri="{FF2B5EF4-FFF2-40B4-BE49-F238E27FC236}">
                <a16:creationId xmlns:a16="http://schemas.microsoft.com/office/drawing/2014/main" id="{9910F1F2-0C6F-EF50-69CD-3978A79418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611"/>
          <a:stretch/>
        </p:blipFill>
        <p:spPr>
          <a:xfrm>
            <a:off x="1375672" y="1434164"/>
            <a:ext cx="4341734" cy="43354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4FF2D9-F844-9605-5708-6315BC55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325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36CB5-9802-1578-89C5-54D34B43A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882" y="552356"/>
            <a:ext cx="10219765" cy="777875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Marginal Distributions Simulation Method Evaluation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(Simulation replicates: n=100)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EA764E-3437-8D9A-56A7-1F2184B4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56ED95-5D4D-BFEB-4716-59B92CFDE7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49" t="50000" r="14906"/>
          <a:stretch>
            <a:fillRect/>
          </a:stretch>
        </p:blipFill>
        <p:spPr>
          <a:xfrm>
            <a:off x="6972666" y="2158771"/>
            <a:ext cx="5166753" cy="37579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DB1A68-5630-DB1A-D838-A56CE8ECFF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101"/>
          <a:stretch>
            <a:fillRect/>
          </a:stretch>
        </p:blipFill>
        <p:spPr>
          <a:xfrm>
            <a:off x="182100" y="2158771"/>
            <a:ext cx="6817225" cy="375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595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2A4250-0A58-3572-4FDA-9B683F3FB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742950"/>
            <a:ext cx="11226800" cy="5613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500F7-0889-645E-88AB-D74833AF5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38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Marginal Distributions (Final simulation n=1)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D6E7655-141D-03B5-F9A5-56E61FA2D80F}"/>
              </a:ext>
            </a:extLst>
          </p:cNvPr>
          <p:cNvSpPr/>
          <p:nvPr/>
        </p:nvSpPr>
        <p:spPr>
          <a:xfrm>
            <a:off x="1784089" y="3084083"/>
            <a:ext cx="971550" cy="9525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62BA3E2-1B4D-F0C9-9453-64818095B764}"/>
              </a:ext>
            </a:extLst>
          </p:cNvPr>
          <p:cNvSpPr/>
          <p:nvPr/>
        </p:nvSpPr>
        <p:spPr>
          <a:xfrm>
            <a:off x="7347473" y="3091479"/>
            <a:ext cx="971550" cy="9525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348C46A-4691-44C4-5581-7F009DDCFAFC}"/>
              </a:ext>
            </a:extLst>
          </p:cNvPr>
          <p:cNvSpPr/>
          <p:nvPr/>
        </p:nvSpPr>
        <p:spPr>
          <a:xfrm>
            <a:off x="734437" y="4185228"/>
            <a:ext cx="971550" cy="9525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67A2F71-ACFB-8564-57D3-6511A0499196}"/>
              </a:ext>
            </a:extLst>
          </p:cNvPr>
          <p:cNvSpPr/>
          <p:nvPr/>
        </p:nvSpPr>
        <p:spPr>
          <a:xfrm>
            <a:off x="6293224" y="4177888"/>
            <a:ext cx="971550" cy="9525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2E467BD-663E-6431-9560-7D2F14066B90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755639" y="3560333"/>
            <a:ext cx="4591834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BDB49D-70F7-F6D6-A0C3-A3853A968B8D}"/>
              </a:ext>
            </a:extLst>
          </p:cNvPr>
          <p:cNvCxnSpPr>
            <a:cxnSpLocks/>
          </p:cNvCxnSpPr>
          <p:nvPr/>
        </p:nvCxnSpPr>
        <p:spPr>
          <a:xfrm>
            <a:off x="1705987" y="4654138"/>
            <a:ext cx="4587237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D813D6-9C13-9192-A71A-07A16ACF1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65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81F81-E58F-A0C6-4617-8AAF83FC1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Summary-Marginal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20F25-A4D0-D6F9-67B9-16EAE46AE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15184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ignoring correlations (i.e., joint distribution)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Unrealistic simulation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Unrealistic combination of covariates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weight + high height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age + high eGFR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implement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appropriate to use most of the time.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A1EBD-40DE-83DA-8D9A-3051E5C3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0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2C064-0EAF-22D1-79D5-2E99A174D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21333-AFF7-C101-62E8-5FA81DC8D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Normal Distributions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E29DD5-6026-C557-C1F7-13A7530FEA8A}"/>
              </a:ext>
            </a:extLst>
          </p:cNvPr>
          <p:cNvSpPr txBox="1"/>
          <p:nvPr/>
        </p:nvSpPr>
        <p:spPr>
          <a:xfrm>
            <a:off x="838200" y="6123543"/>
            <a:ext cx="749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Tannenbaum et al. 2006. Journal of Pharmacokinetics and Pharmacodynamics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EBF753-C3D5-DD9A-2844-53F1E3EE544B}"/>
              </a:ext>
            </a:extLst>
          </p:cNvPr>
          <p:cNvSpPr txBox="1"/>
          <p:nvPr/>
        </p:nvSpPr>
        <p:spPr>
          <a:xfrm>
            <a:off x="6591300" y="2100962"/>
            <a:ext cx="4584701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Derive </a:t>
            </a:r>
            <a:r>
              <a:rPr lang="en-US" u="sng" dirty="0"/>
              <a:t>the means and the covariance matrix</a:t>
            </a:r>
            <a:r>
              <a:rPr lang="en-US" dirty="0"/>
              <a:t> of the population dataset.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Sample from </a:t>
            </a:r>
            <a:r>
              <a:rPr lang="en-US" u="sng" dirty="0"/>
              <a:t>the multivariate normal distribution</a:t>
            </a:r>
            <a:r>
              <a:rPr lang="en-US" dirty="0"/>
              <a:t> defined by the means and the covariance matrix .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8" name="Picture 7" descr="A diagram of a cov and a diagram of a cov&#10;&#10;Description automatically generated">
            <a:extLst>
              <a:ext uri="{FF2B5EF4-FFF2-40B4-BE49-F238E27FC236}">
                <a16:creationId xmlns:a16="http://schemas.microsoft.com/office/drawing/2014/main" id="{F794267E-F0B3-6123-F0FA-D0204250E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27" y="1976307"/>
            <a:ext cx="5363001" cy="29422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490AC9-BF34-2605-E79C-4E3C59B96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880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51A2C-E65D-B033-8E77-E31140E2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73A2AC-39D2-C912-C819-BDCDA7C8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15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DF05EB-1082-EB47-7852-2518CCCF6B82}"/>
              </a:ext>
            </a:extLst>
          </p:cNvPr>
          <p:cNvSpPr txBox="1">
            <a:spLocks/>
          </p:cNvSpPr>
          <p:nvPr/>
        </p:nvSpPr>
        <p:spPr>
          <a:xfrm>
            <a:off x="441063" y="390992"/>
            <a:ext cx="11069619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Normal Distributions Simulation Method Evaluation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(Simulation replicates: n=100)</a:t>
            </a:r>
            <a:endParaRPr 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A1D7F8-B5CE-5DC1-C3BD-89A0DC6F32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956"/>
          <a:stretch>
            <a:fillRect/>
          </a:stretch>
        </p:blipFill>
        <p:spPr>
          <a:xfrm>
            <a:off x="106679" y="2011680"/>
            <a:ext cx="7201389" cy="36038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29241E-9509-DFF2-F418-DAF3B0CD4A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24" t="49956" r="15019"/>
          <a:stretch>
            <a:fillRect/>
          </a:stretch>
        </p:blipFill>
        <p:spPr>
          <a:xfrm>
            <a:off x="7242965" y="2011680"/>
            <a:ext cx="4842356" cy="346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657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F8B82-D28D-F38D-F282-EA5979B1C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AEDDB0-2953-6CCE-6F48-680BCAAED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9" y="962493"/>
            <a:ext cx="10610680" cy="53053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7AE48E-CE8B-428E-9E12-88C8A8947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44" y="3503"/>
            <a:ext cx="11872911" cy="8382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Normal Distributions (Final simulation n=1)</a:t>
            </a:r>
            <a:endParaRPr lang="en-US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DB3A1A4-20E8-3C0B-CB0B-F65B191D81D6}"/>
              </a:ext>
            </a:extLst>
          </p:cNvPr>
          <p:cNvSpPr/>
          <p:nvPr/>
        </p:nvSpPr>
        <p:spPr>
          <a:xfrm>
            <a:off x="496002" y="1113734"/>
            <a:ext cx="971550" cy="9525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FA3B3E6-70F9-75CA-B937-3667F99C91BF}"/>
              </a:ext>
            </a:extLst>
          </p:cNvPr>
          <p:cNvSpPr/>
          <p:nvPr/>
        </p:nvSpPr>
        <p:spPr>
          <a:xfrm>
            <a:off x="5852160" y="1113734"/>
            <a:ext cx="971550" cy="9525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2A02D8D-7DBF-E138-9AFE-BE74E825DB65}"/>
              </a:ext>
            </a:extLst>
          </p:cNvPr>
          <p:cNvCxnSpPr>
            <a:cxnSpLocks/>
          </p:cNvCxnSpPr>
          <p:nvPr/>
        </p:nvCxnSpPr>
        <p:spPr>
          <a:xfrm>
            <a:off x="1467552" y="1600742"/>
            <a:ext cx="4384608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A2D9DB7-9E60-35A8-EDFF-3376F6A62832}"/>
              </a:ext>
            </a:extLst>
          </p:cNvPr>
          <p:cNvSpPr/>
          <p:nvPr/>
        </p:nvSpPr>
        <p:spPr>
          <a:xfrm>
            <a:off x="2523174" y="4163248"/>
            <a:ext cx="971550" cy="9525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9748B61-4826-C22E-70D6-45DFE8589C94}"/>
              </a:ext>
            </a:extLst>
          </p:cNvPr>
          <p:cNvSpPr/>
          <p:nvPr/>
        </p:nvSpPr>
        <p:spPr>
          <a:xfrm>
            <a:off x="7863840" y="4163248"/>
            <a:ext cx="971550" cy="9525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1195326-34C7-ACE9-7B42-44C8D6B8B124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3494724" y="4639498"/>
            <a:ext cx="4369116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0A1BB0-05C3-2BCE-125A-0208D0334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69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85170-269D-6A21-464C-3ADCBA9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4A12-A252-B01D-B61A-76BF9CE69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Summary-Multivariate Normal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B7111-9774-0A4D-7063-0858C0DFF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6191"/>
            <a:ext cx="10515600" cy="415184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considering both marginal and joint distribution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realistic simulation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Realistic combination of covariates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distributional assumptions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marginal distribution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correlation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C044D-DFD6-6787-DE20-9548A737A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601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605C22-B153-4827-51DC-B1A8B81D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566" y="365125"/>
            <a:ext cx="10515600" cy="10299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Copula-Based Virtual Patient Simulation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305ECE-2593-FFAD-76DD-BE7833E3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18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DDAD1D-54B5-EA59-41E4-94FDA5A96690}"/>
              </a:ext>
            </a:extLst>
          </p:cNvPr>
          <p:cNvSpPr txBox="1"/>
          <p:nvPr/>
        </p:nvSpPr>
        <p:spPr>
          <a:xfrm>
            <a:off x="637107" y="1395112"/>
            <a:ext cx="1028251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Zwep</a:t>
            </a:r>
            <a:r>
              <a:rPr lang="en-US" sz="2000" dirty="0"/>
              <a:t> L.B. “Virtual patient simulation: a copula approach.” </a:t>
            </a:r>
            <a:r>
              <a:rPr lang="en-US" sz="2000" i="1" dirty="0"/>
              <a:t>PAGE</a:t>
            </a:r>
            <a:r>
              <a:rPr lang="en-US" sz="2000" dirty="0"/>
              <a:t> (2022).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Zwep</a:t>
            </a:r>
            <a:r>
              <a:rPr lang="en-US" sz="2000" dirty="0"/>
              <a:t>, L. B., et al. “Virtual patient simulation using copula modeling.” </a:t>
            </a:r>
            <a:r>
              <a:rPr lang="en-US" sz="2000" i="1" dirty="0"/>
              <a:t>CPT</a:t>
            </a:r>
            <a:r>
              <a:rPr lang="en-US" sz="2000" dirty="0"/>
              <a:t> (2022). 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Guo, Y., et al. “Generation of realistic virtual adult populations using a model-based copula approach.” </a:t>
            </a:r>
            <a:r>
              <a:rPr lang="en-US" sz="2000" i="1" dirty="0"/>
              <a:t>JPKPD</a:t>
            </a:r>
            <a:r>
              <a:rPr lang="en-US" sz="2000" dirty="0"/>
              <a:t> (2024).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Guo, Y., et al. “Copulas for Covariate Simulation in Pharmacometrics” </a:t>
            </a:r>
            <a:r>
              <a:rPr lang="en-US" sz="2000" i="1" dirty="0"/>
              <a:t>CPT:PSP</a:t>
            </a:r>
            <a:r>
              <a:rPr lang="en-US" sz="2000" dirty="0"/>
              <a:t> (2026)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 package (</a:t>
            </a:r>
            <a:r>
              <a:rPr lang="en-US" sz="2000" dirty="0" err="1"/>
              <a:t>pmxcopula</a:t>
            </a:r>
            <a:r>
              <a:rPr lang="en-US" sz="2000" dirty="0"/>
              <a:t>):  </a:t>
            </a:r>
            <a:r>
              <a:rPr lang="en-US" sz="2000" dirty="0">
                <a:hlinkClick r:id="rId3"/>
              </a:rPr>
              <a:t>https://github.com/vanhasseltlab/pmxcopula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Installation: </a:t>
            </a:r>
            <a:r>
              <a:rPr lang="en-US" sz="20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devtools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0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install_github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0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vanhasseltlab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20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pmxcopula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20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build_vignettes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TRUE, force = TRUE)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4019E1-85B1-1118-DFC8-84D1455E87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288" y="4138504"/>
            <a:ext cx="8551862" cy="22178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6353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FD536-0DC4-F2D6-FDE9-18F8334C9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23091-231E-CE83-5BAB-0CE54E70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61" y="152723"/>
            <a:ext cx="10515600" cy="1069724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Sklar’s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Theorem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1A06D9-FC7B-1AE2-7BAC-ABB9012DE50F}"/>
              </a:ext>
            </a:extLst>
          </p:cNvPr>
          <p:cNvSpPr txBox="1"/>
          <p:nvPr/>
        </p:nvSpPr>
        <p:spPr>
          <a:xfrm>
            <a:off x="408561" y="6238971"/>
            <a:ext cx="3055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Guo, Y., et al. </a:t>
            </a:r>
            <a:r>
              <a:rPr lang="en-US" i="1" dirty="0"/>
              <a:t>CPT:PSP</a:t>
            </a:r>
            <a:r>
              <a:rPr lang="en-US" dirty="0"/>
              <a:t> (2026)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A203FE-1A0C-AD03-DD02-E9B62C6CD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CAB225F-E69A-99BF-4CC8-8D83905D0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646691"/>
              </p:ext>
            </p:extLst>
          </p:nvPr>
        </p:nvGraphicFramePr>
        <p:xfrm>
          <a:off x="2542861" y="3911666"/>
          <a:ext cx="7489825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04113">
                  <a:extLst>
                    <a:ext uri="{9D8B030D-6E8A-4147-A177-3AD203B41FA5}">
                      <a16:colId xmlns:a16="http://schemas.microsoft.com/office/drawing/2014/main" val="2634840342"/>
                    </a:ext>
                  </a:extLst>
                </a:gridCol>
                <a:gridCol w="5485712">
                  <a:extLst>
                    <a:ext uri="{9D8B030D-6E8A-4147-A177-3AD203B41FA5}">
                      <a16:colId xmlns:a16="http://schemas.microsoft.com/office/drawing/2014/main" val="3479624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i="1" dirty="0"/>
                        <a:t>f (x, 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Joint density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592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i="1" dirty="0" err="1"/>
                        <a:t>Fx</a:t>
                      </a:r>
                      <a:r>
                        <a:rPr lang="en-US" b="0" i="1" dirty="0"/>
                        <a:t>(X), FY (Y)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Marginal distribution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81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i="1" dirty="0"/>
                        <a:t>C (U, 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Copula describing the dependence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058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(X), F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i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(Y)</a:t>
                      </a:r>
                      <a:endParaRPr lang="en-US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Inverse marginal cumulative density function</a:t>
                      </a:r>
                      <a:endParaRPr lang="en-US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41519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CC27332-0F94-717E-A476-D0C8BE72DF58}"/>
                  </a:ext>
                </a:extLst>
              </p:cNvPr>
              <p:cNvSpPr txBox="1"/>
              <p:nvPr/>
            </p:nvSpPr>
            <p:spPr>
              <a:xfrm>
                <a:off x="5189268" y="2360879"/>
                <a:ext cx="10985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CC27332-0F94-717E-A476-D0C8BE72D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268" y="2360879"/>
                <a:ext cx="1098506" cy="276999"/>
              </a:xfrm>
              <a:prstGeom prst="rect">
                <a:avLst/>
              </a:prstGeom>
              <a:blipFill>
                <a:blip r:embed="rId2"/>
                <a:stretch>
                  <a:fillRect l="-459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63F26C8-428C-A25E-55ED-E8EB3606C1DE}"/>
                  </a:ext>
                </a:extLst>
              </p:cNvPr>
              <p:cNvSpPr txBox="1"/>
              <p:nvPr/>
            </p:nvSpPr>
            <p:spPr>
              <a:xfrm>
                <a:off x="5189268" y="2744511"/>
                <a:ext cx="10709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63F26C8-428C-A25E-55ED-E8EB3606C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268" y="2744511"/>
                <a:ext cx="1070998" cy="276999"/>
              </a:xfrm>
              <a:prstGeom prst="rect">
                <a:avLst/>
              </a:prstGeom>
              <a:blipFill>
                <a:blip r:embed="rId3"/>
                <a:stretch>
                  <a:fillRect l="-470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748F08-5DD0-8607-6AF0-6EDB75B1F232}"/>
                  </a:ext>
                </a:extLst>
              </p:cNvPr>
              <p:cNvSpPr txBox="1"/>
              <p:nvPr/>
            </p:nvSpPr>
            <p:spPr>
              <a:xfrm>
                <a:off x="5147213" y="3176903"/>
                <a:ext cx="1285032" cy="2802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748F08-5DD0-8607-6AF0-6EDB75B1F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213" y="3176903"/>
                <a:ext cx="1285032" cy="280270"/>
              </a:xfrm>
              <a:prstGeom prst="rect">
                <a:avLst/>
              </a:prstGeom>
              <a:blipFill>
                <a:blip r:embed="rId4"/>
                <a:stretch>
                  <a:fillRect l="-196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7B19654-FFC5-5101-3DBF-CB4B0A460E5A}"/>
                  </a:ext>
                </a:extLst>
              </p:cNvPr>
              <p:cNvSpPr txBox="1"/>
              <p:nvPr/>
            </p:nvSpPr>
            <p:spPr>
              <a:xfrm>
                <a:off x="6494907" y="3221717"/>
                <a:ext cx="1215397" cy="2802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7B19654-FFC5-5101-3DBF-CB4B0A460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907" y="3221717"/>
                <a:ext cx="1215397" cy="280270"/>
              </a:xfrm>
              <a:prstGeom prst="rect">
                <a:avLst/>
              </a:prstGeom>
              <a:blipFill>
                <a:blip r:embed="rId5"/>
                <a:stretch>
                  <a:fillRect l="-412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B61E4E1-BE2C-C83C-318C-180357A57FBF}"/>
                  </a:ext>
                </a:extLst>
              </p:cNvPr>
              <p:cNvSpPr txBox="1"/>
              <p:nvPr/>
            </p:nvSpPr>
            <p:spPr>
              <a:xfrm>
                <a:off x="6494271" y="2360877"/>
                <a:ext cx="10348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B61E4E1-BE2C-C83C-318C-180357A57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271" y="2360877"/>
                <a:ext cx="1034899" cy="276999"/>
              </a:xfrm>
              <a:prstGeom prst="rect">
                <a:avLst/>
              </a:prstGeom>
              <a:blipFill>
                <a:blip r:embed="rId6"/>
                <a:stretch>
                  <a:fillRect l="-4878" r="-8537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F61A49F-B334-0E02-6854-680564B24AD2}"/>
                  </a:ext>
                </a:extLst>
              </p:cNvPr>
              <p:cNvSpPr txBox="1"/>
              <p:nvPr/>
            </p:nvSpPr>
            <p:spPr>
              <a:xfrm>
                <a:off x="6494271" y="2790722"/>
                <a:ext cx="10232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F61A49F-B334-0E02-6854-680564B24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271" y="2790722"/>
                <a:ext cx="1023292" cy="276999"/>
              </a:xfrm>
              <a:prstGeom prst="rect">
                <a:avLst/>
              </a:prstGeom>
              <a:blipFill>
                <a:blip r:embed="rId7"/>
                <a:stretch>
                  <a:fillRect l="-4938" r="-8642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03C6B84-CB46-5E1C-7F50-3D7F5ECBF5DD}"/>
                  </a:ext>
                </a:extLst>
              </p:cNvPr>
              <p:cNvSpPr txBox="1"/>
              <p:nvPr/>
            </p:nvSpPr>
            <p:spPr>
              <a:xfrm>
                <a:off x="4772391" y="1748496"/>
                <a:ext cx="2975750" cy="3107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03C6B84-CB46-5E1C-7F50-3D7F5ECBF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391" y="1748496"/>
                <a:ext cx="2975750" cy="310791"/>
              </a:xfrm>
              <a:prstGeom prst="rect">
                <a:avLst/>
              </a:prstGeom>
              <a:blipFill>
                <a:blip r:embed="rId8"/>
                <a:stretch>
                  <a:fillRect l="-2119" t="-15385" r="-2119" b="-3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7573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2125F-376E-F683-E8E3-BACBD864C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11F9C-6AA0-4BE5-3834-21098E77F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5" y="225948"/>
            <a:ext cx="10515600" cy="88615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Copulas? Correlation Is Not Enough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333593-0990-9CE9-A08D-A5C44CDAEE96}"/>
              </a:ext>
            </a:extLst>
          </p:cNvPr>
          <p:cNvSpPr txBox="1"/>
          <p:nvPr/>
        </p:nvSpPr>
        <p:spPr>
          <a:xfrm>
            <a:off x="1203493" y="6275420"/>
            <a:ext cx="4273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Kiran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Karra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Copula Short Course.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B79B83-AC47-F63E-0F8F-6DE0D691C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20</a:t>
            </a:fld>
            <a:endParaRPr lang="en-US"/>
          </a:p>
        </p:txBody>
      </p:sp>
      <p:pic>
        <p:nvPicPr>
          <p:cNvPr id="12" name="Picture 11" descr="A graph of a number of numbers&#10;&#10;Description automatically generated with medium confidence">
            <a:extLst>
              <a:ext uri="{FF2B5EF4-FFF2-40B4-BE49-F238E27FC236}">
                <a16:creationId xmlns:a16="http://schemas.microsoft.com/office/drawing/2014/main" id="{DE2C15CA-F775-BE8C-944E-745A1B982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388" y="1112107"/>
            <a:ext cx="4755816" cy="47785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0C2C08-FFCE-2993-9532-AE37C70368D3}"/>
              </a:ext>
            </a:extLst>
          </p:cNvPr>
          <p:cNvSpPr txBox="1"/>
          <p:nvPr/>
        </p:nvSpPr>
        <p:spPr>
          <a:xfrm>
            <a:off x="6042417" y="2328862"/>
            <a:ext cx="58054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Same Pearson correlation ≠ Same joint distribution</a:t>
            </a:r>
          </a:p>
          <a:p>
            <a:endParaRPr lang="en-US" dirty="0"/>
          </a:p>
          <a:p>
            <a:r>
              <a:rPr lang="en-US" dirty="0"/>
              <a:t>Datasets can have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same correlation coefficient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differ substantially in their dependence patterns.</a:t>
            </a:r>
          </a:p>
          <a:p>
            <a:endParaRPr lang="en-US" dirty="0"/>
          </a:p>
          <a:p>
            <a:r>
              <a:rPr lang="en-US" dirty="0"/>
              <a:t>Matching a correlation matrix alone does not guarantee realistic combinations of patient covariates.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185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2322E-1EA0-3956-BFE2-E273C5604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286"/>
            <a:ext cx="10515600" cy="886159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copula? Dependence Beyond Correlation</a:t>
            </a:r>
          </a:p>
        </p:txBody>
      </p:sp>
      <p:pic>
        <p:nvPicPr>
          <p:cNvPr id="4" name="Picture 3" descr="A graph of different sizes of dots&#10;&#10;Description automatically generated with medium confidence">
            <a:extLst>
              <a:ext uri="{FF2B5EF4-FFF2-40B4-BE49-F238E27FC236}">
                <a16:creationId xmlns:a16="http://schemas.microsoft.com/office/drawing/2014/main" id="{F639400E-A758-DCF9-AFD3-DF9400BC0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35" y="909130"/>
            <a:ext cx="5300139" cy="39709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A graph of different gaussian plots&#10;&#10;Description automatically generated">
            <a:extLst>
              <a:ext uri="{FF2B5EF4-FFF2-40B4-BE49-F238E27FC236}">
                <a16:creationId xmlns:a16="http://schemas.microsoft.com/office/drawing/2014/main" id="{33BF2269-4539-992B-9D0F-C612AA6A4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047" y="909130"/>
            <a:ext cx="5367018" cy="39709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4FF537-133E-3983-A9CA-658348AE6990}"/>
              </a:ext>
            </a:extLst>
          </p:cNvPr>
          <p:cNvSpPr txBox="1"/>
          <p:nvPr/>
        </p:nvSpPr>
        <p:spPr>
          <a:xfrm>
            <a:off x="3959197" y="6356350"/>
            <a:ext cx="4273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Kiran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Karra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Copula Short Course.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3D5F2-C16F-A606-C8CD-C7AB00AD0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21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10B0A2C-E983-AAFD-F098-F5C4C57F28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016236"/>
              </p:ext>
            </p:extLst>
          </p:nvPr>
        </p:nvGraphicFramePr>
        <p:xfrm>
          <a:off x="2217738" y="5085638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2051342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067487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Gaussian copula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Clayton copula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050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Symmetric dependence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Asymmetric dependence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515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 tail dependence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 tail dependence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568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801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0CD9755-4E0D-B5B0-095B-12A7211B4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022"/>
            <a:ext cx="10515600" cy="65478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Copula-Based Simulation Workflow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8CEAAB-0AFF-209E-6628-D956408E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22</a:t>
            </a:fld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65DADA1-E5D1-1873-B37F-4D87AAD7EF72}"/>
              </a:ext>
            </a:extLst>
          </p:cNvPr>
          <p:cNvSpPr/>
          <p:nvPr/>
        </p:nvSpPr>
        <p:spPr>
          <a:xfrm>
            <a:off x="838200" y="1676434"/>
            <a:ext cx="10515599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1. Characterize observed covariates</a:t>
            </a:r>
          </a:p>
          <a:p>
            <a:pPr algn="ctr"/>
            <a:r>
              <a:rPr lang="en-US" dirty="0"/>
              <a:t>Estimate marginal distribution of covariates (e.g., AGE, WT, EGFR,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F2BBF4F-3923-5C6A-6702-F48C59D1AE49}"/>
              </a:ext>
            </a:extLst>
          </p:cNvPr>
          <p:cNvSpPr/>
          <p:nvPr/>
        </p:nvSpPr>
        <p:spPr>
          <a:xfrm>
            <a:off x="838200" y="2680921"/>
            <a:ext cx="10515599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 Transform covariates to uniform distributions</a:t>
            </a:r>
          </a:p>
          <a:p>
            <a:pPr algn="ctr"/>
            <a:r>
              <a:rPr lang="en-US" i="1" dirty="0" err="1"/>
              <a:t>U</a:t>
            </a:r>
            <a:r>
              <a:rPr lang="en-US" i="1" baseline="-25000" dirty="0" err="1"/>
              <a:t>j</a:t>
            </a:r>
            <a:r>
              <a:rPr lang="en-US" i="1" dirty="0"/>
              <a:t>=F</a:t>
            </a:r>
            <a:r>
              <a:rPr lang="en-US" i="1" baseline="-25000" dirty="0"/>
              <a:t>j</a:t>
            </a:r>
            <a:r>
              <a:rPr lang="en-US" i="1" dirty="0"/>
              <a:t>(</a:t>
            </a:r>
            <a:r>
              <a:rPr lang="en-US" i="1" dirty="0" err="1"/>
              <a:t>X</a:t>
            </a:r>
            <a:r>
              <a:rPr lang="en-US" i="1" baseline="-25000" dirty="0" err="1"/>
              <a:t>j</a:t>
            </a:r>
            <a:r>
              <a:rPr lang="en-US" i="1" dirty="0"/>
              <a:t>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43D6864-BF05-DD7B-AFF8-672815432653}"/>
              </a:ext>
            </a:extLst>
          </p:cNvPr>
          <p:cNvSpPr/>
          <p:nvPr/>
        </p:nvSpPr>
        <p:spPr>
          <a:xfrm>
            <a:off x="838200" y="3549867"/>
            <a:ext cx="10515599" cy="90845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3. Fit a copula model</a:t>
            </a:r>
          </a:p>
          <a:p>
            <a:pPr algn="ctr"/>
            <a:r>
              <a:rPr lang="en-US" dirty="0"/>
              <a:t>Model dependence (</a:t>
            </a:r>
            <a:r>
              <a:rPr lang="en-US" i="1" dirty="0"/>
              <a:t>C(U</a:t>
            </a:r>
            <a:r>
              <a:rPr lang="en-US" i="1" baseline="-25000" dirty="0"/>
              <a:t>i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j</a:t>
            </a:r>
            <a:r>
              <a:rPr lang="en-US" i="1" dirty="0"/>
              <a:t>)</a:t>
            </a:r>
            <a:r>
              <a:rPr lang="en-US" dirty="0"/>
              <a:t>) between uniformly distributed covariates</a:t>
            </a:r>
            <a:endParaRPr lang="en-US" i="1" dirty="0"/>
          </a:p>
          <a:p>
            <a:pPr algn="ctr"/>
            <a:r>
              <a:rPr lang="en-US" dirty="0"/>
              <a:t>e.g., using vine copula guided by AIC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DE1757D-D3CD-F8FA-2EE0-CE115D98A99E}"/>
              </a:ext>
            </a:extLst>
          </p:cNvPr>
          <p:cNvSpPr/>
          <p:nvPr/>
        </p:nvSpPr>
        <p:spPr>
          <a:xfrm>
            <a:off x="838200" y="4689894"/>
            <a:ext cx="10515599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4. Simulate uniformly distributed covariates based on the fitted copula model</a:t>
            </a:r>
          </a:p>
          <a:p>
            <a:pPr algn="ctr"/>
            <a:r>
              <a:rPr lang="en-US" i="1" dirty="0" err="1"/>
              <a:t>U</a:t>
            </a:r>
            <a:r>
              <a:rPr lang="en-US" i="1" baseline="-25000" dirty="0" err="1"/>
              <a:t>j</a:t>
            </a:r>
            <a:r>
              <a:rPr lang="en-US" i="1" baseline="30000" dirty="0"/>
              <a:t>*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F3FC5D4-1441-B0AE-7ACA-5741587FDCE2}"/>
              </a:ext>
            </a:extLst>
          </p:cNvPr>
          <p:cNvSpPr/>
          <p:nvPr/>
        </p:nvSpPr>
        <p:spPr>
          <a:xfrm>
            <a:off x="838200" y="5694380"/>
            <a:ext cx="10515599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5. Transform back to clinical covariate values</a:t>
            </a:r>
          </a:p>
          <a:p>
            <a:pPr algn="ctr"/>
            <a:r>
              <a:rPr lang="en-US" i="1" dirty="0" err="1"/>
              <a:t>X</a:t>
            </a:r>
            <a:r>
              <a:rPr lang="en-US" i="1" baseline="-25000" dirty="0" err="1"/>
              <a:t>j</a:t>
            </a:r>
            <a:r>
              <a:rPr lang="en-US" i="1" baseline="30000" dirty="0"/>
              <a:t>*</a:t>
            </a:r>
            <a:r>
              <a:rPr lang="en-US" i="1" dirty="0"/>
              <a:t>=F</a:t>
            </a:r>
            <a:r>
              <a:rPr lang="en-US" i="1" baseline="-25000" dirty="0"/>
              <a:t>j</a:t>
            </a:r>
            <a:r>
              <a:rPr lang="en-US" i="1" baseline="30000" dirty="0"/>
              <a:t>-1</a:t>
            </a:r>
            <a:r>
              <a:rPr lang="en-US" i="1" dirty="0"/>
              <a:t>(</a:t>
            </a:r>
            <a:r>
              <a:rPr lang="en-US" i="1" dirty="0" err="1"/>
              <a:t>U</a:t>
            </a:r>
            <a:r>
              <a:rPr lang="en-US" i="1" baseline="-25000" dirty="0" err="1"/>
              <a:t>j</a:t>
            </a:r>
            <a:r>
              <a:rPr lang="en-US" i="1" baseline="30000" dirty="0"/>
              <a:t>*</a:t>
            </a:r>
            <a:r>
              <a:rPr lang="en-US" i="1" dirty="0"/>
              <a:t>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3672770-DC77-42DF-9142-8C7A299A872C}"/>
              </a:ext>
            </a:extLst>
          </p:cNvPr>
          <p:cNvCxnSpPr>
            <a:stCxn id="3" idx="2"/>
            <a:endCxn id="8" idx="0"/>
          </p:cNvCxnSpPr>
          <p:nvPr/>
        </p:nvCxnSpPr>
        <p:spPr>
          <a:xfrm>
            <a:off x="6096000" y="2362234"/>
            <a:ext cx="0" cy="31868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DADA3E-111E-08F6-A1BB-BE68CB2BCCC1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6096000" y="3366721"/>
            <a:ext cx="0" cy="18314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166CE2F-2FFB-EAB9-837B-A4D20AD29E01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6096000" y="4458320"/>
            <a:ext cx="0" cy="23157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AD5EB99-9580-3311-459F-448A4861225A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6096000" y="5375694"/>
            <a:ext cx="0" cy="31868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EAFD90F-F667-02FD-2638-1468DD285622}"/>
              </a:ext>
            </a:extLst>
          </p:cNvPr>
          <p:cNvSpPr txBox="1"/>
          <p:nvPr/>
        </p:nvSpPr>
        <p:spPr>
          <a:xfrm>
            <a:off x="4471987" y="1136953"/>
            <a:ext cx="2977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f(</a:t>
            </a:r>
            <a:r>
              <a:rPr lang="en-US" i="1" dirty="0" err="1"/>
              <a:t>x,y</a:t>
            </a:r>
            <a:r>
              <a:rPr lang="en-US" i="1" dirty="0"/>
              <a:t>) = C(U</a:t>
            </a:r>
            <a:r>
              <a:rPr lang="en-US" i="1" baseline="-25000" dirty="0"/>
              <a:t>i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j</a:t>
            </a:r>
            <a:r>
              <a:rPr lang="en-US" i="1" dirty="0"/>
              <a:t>) x F</a:t>
            </a:r>
            <a:r>
              <a:rPr lang="en-US" i="1" baseline="-25000" dirty="0"/>
              <a:t>i</a:t>
            </a:r>
            <a:r>
              <a:rPr lang="en-US" i="1" dirty="0"/>
              <a:t>(X</a:t>
            </a:r>
            <a:r>
              <a:rPr lang="en-US" i="1" baseline="-25000" dirty="0"/>
              <a:t>i</a:t>
            </a:r>
            <a:r>
              <a:rPr lang="en-US" i="1" dirty="0"/>
              <a:t>) x F</a:t>
            </a:r>
            <a:r>
              <a:rPr lang="en-US" i="1" baseline="-25000" dirty="0"/>
              <a:t>j</a:t>
            </a:r>
            <a:r>
              <a:rPr lang="en-US" i="1" dirty="0"/>
              <a:t>(</a:t>
            </a:r>
            <a:r>
              <a:rPr lang="en-US" i="1" dirty="0" err="1"/>
              <a:t>X</a:t>
            </a:r>
            <a:r>
              <a:rPr lang="en-US" i="1" baseline="-25000" dirty="0" err="1"/>
              <a:t>j</a:t>
            </a:r>
            <a:r>
              <a:rPr lang="en-US" i="1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502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D059BE-9923-5E36-0555-612EA1FFA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815"/>
            <a:ext cx="10515600" cy="690677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Marginals Isolate the Dependence Structure</a:t>
            </a:r>
          </a:p>
        </p:txBody>
      </p:sp>
      <p:pic>
        <p:nvPicPr>
          <p:cNvPr id="5" name="Picture 4" descr="A group of blue dots&#10;&#10;Description automatically generated">
            <a:extLst>
              <a:ext uri="{FF2B5EF4-FFF2-40B4-BE49-F238E27FC236}">
                <a16:creationId xmlns:a16="http://schemas.microsoft.com/office/drawing/2014/main" id="{7D471714-E9F1-161C-7BFA-18040906F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75" y="855542"/>
            <a:ext cx="4542049" cy="45268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298862-757E-BCFD-1CE0-2F7FCD0F6F12}"/>
              </a:ext>
            </a:extLst>
          </p:cNvPr>
          <p:cNvSpPr txBox="1"/>
          <p:nvPr/>
        </p:nvSpPr>
        <p:spPr>
          <a:xfrm>
            <a:off x="5071247" y="1312101"/>
            <a:ext cx="70302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use uniform marginal distributions?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Separate marginal distributions from dependence.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Model dependence regardless of the original covariate scales.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Preserve rank-based association.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Generate new covariate combinations using different marginal distributions while retaining the fitted copula.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126B122-2BAD-9C32-37A6-253B7EF80C57}"/>
              </a:ext>
            </a:extLst>
          </p:cNvPr>
          <p:cNvGrpSpPr/>
          <p:nvPr/>
        </p:nvGrpSpPr>
        <p:grpSpPr>
          <a:xfrm>
            <a:off x="6506087" y="3314638"/>
            <a:ext cx="3703929" cy="2231261"/>
            <a:chOff x="6997098" y="936878"/>
            <a:chExt cx="3703929" cy="2231261"/>
          </a:xfrm>
        </p:grpSpPr>
        <p:pic>
          <p:nvPicPr>
            <p:cNvPr id="8" name="Picture 7" descr="A screenshot of a math game&#10;&#10;Description automatically generated">
              <a:extLst>
                <a:ext uri="{FF2B5EF4-FFF2-40B4-BE49-F238E27FC236}">
                  <a16:creationId xmlns:a16="http://schemas.microsoft.com/office/drawing/2014/main" id="{62F25D4F-FBCC-E3CF-0550-DE92E681A4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9091" t="8873" r="27294"/>
            <a:stretch/>
          </p:blipFill>
          <p:spPr>
            <a:xfrm>
              <a:off x="9352084" y="1664677"/>
              <a:ext cx="586154" cy="150346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9" name="Picture 8" descr="A screenshot of a math test&#10;&#10;Description automatically generated">
              <a:extLst>
                <a:ext uri="{FF2B5EF4-FFF2-40B4-BE49-F238E27FC236}">
                  <a16:creationId xmlns:a16="http://schemas.microsoft.com/office/drawing/2014/main" id="{2B57C228-27E7-B077-84F5-130717F73E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6065" t="8995" r="17511"/>
            <a:stretch/>
          </p:blipFill>
          <p:spPr>
            <a:xfrm>
              <a:off x="7244863" y="1664677"/>
              <a:ext cx="679938" cy="150346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6CA3F2-806C-B10A-9D1C-CB8863C809CD}"/>
                </a:ext>
              </a:extLst>
            </p:cNvPr>
            <p:cNvSpPr txBox="1"/>
            <p:nvPr/>
          </p:nvSpPr>
          <p:spPr>
            <a:xfrm>
              <a:off x="6997098" y="936878"/>
              <a:ext cx="15255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Original observations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10CAC9A-CF8A-F742-828D-9D66E3991683}"/>
                </a:ext>
              </a:extLst>
            </p:cNvPr>
            <p:cNvSpPr txBox="1"/>
            <p:nvPr/>
          </p:nvSpPr>
          <p:spPr>
            <a:xfrm>
              <a:off x="9175449" y="936878"/>
              <a:ext cx="15255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Rank observations</a:t>
              </a:r>
            </a:p>
          </p:txBody>
        </p:sp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7E5A0300-16B4-9AC4-E4C6-236C1182D27B}"/>
                </a:ext>
              </a:extLst>
            </p:cNvPr>
            <p:cNvSpPr/>
            <p:nvPr/>
          </p:nvSpPr>
          <p:spPr>
            <a:xfrm>
              <a:off x="8135815" y="2239108"/>
              <a:ext cx="1039634" cy="33996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AEFD982-E6CA-9C63-5B9D-8E2043751EC9}"/>
              </a:ext>
            </a:extLst>
          </p:cNvPr>
          <p:cNvSpPr txBox="1"/>
          <p:nvPr/>
        </p:nvSpPr>
        <p:spPr>
          <a:xfrm>
            <a:off x="164418" y="5734098"/>
            <a:ext cx="4273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Kiran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Karra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Copula Short Course.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B84702-B3A9-B019-6D0E-8F546CE5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23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79D8D5-F848-9D47-B39E-D305E7DA6DB9}"/>
              </a:ext>
            </a:extLst>
          </p:cNvPr>
          <p:cNvSpPr txBox="1"/>
          <p:nvPr/>
        </p:nvSpPr>
        <p:spPr>
          <a:xfrm>
            <a:off x="4804736" y="5780265"/>
            <a:ext cx="7445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takeaway: </a:t>
            </a:r>
            <a:r>
              <a:rPr lang="en-US" dirty="0"/>
              <a:t>Copulas allow us to model how patient covariates depend on one another, independently of how each covariate is distributed.</a:t>
            </a:r>
          </a:p>
        </p:txBody>
      </p:sp>
    </p:spTree>
    <p:extLst>
      <p:ext uri="{BB962C8B-B14F-4D97-AF65-F5344CB8AC3E}">
        <p14:creationId xmlns:p14="http://schemas.microsoft.com/office/powerpoint/2010/main" val="39082394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71249D6-60F4-A99C-6601-2333B46F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370702"/>
            <a:ext cx="10896599" cy="88675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Copula Modeling Simulation Method Evaluation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(Simulation replicates: n=100)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4BA90D-73DB-2255-F279-2E2183357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95C34-1D5B-DAC2-3CE8-C7FCD0399B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910"/>
          <a:stretch>
            <a:fillRect/>
          </a:stretch>
        </p:blipFill>
        <p:spPr>
          <a:xfrm>
            <a:off x="24052" y="1960600"/>
            <a:ext cx="7014246" cy="3513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433365-5C99-9CE1-1624-3C56632F61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67" t="49910" r="14985"/>
          <a:stretch>
            <a:fillRect/>
          </a:stretch>
        </p:blipFill>
        <p:spPr>
          <a:xfrm>
            <a:off x="7030995" y="1960600"/>
            <a:ext cx="5136953" cy="374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07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8296F-B16F-5AE5-044B-A3A76287A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8675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Copula Modeling (Final simulation n=1)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B99D86-5EB3-9C20-8D87-5B4647C37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7B26B5-36CB-1B2C-CB52-A04C056E8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86755"/>
            <a:ext cx="10533818" cy="526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4300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B31A-4D43-2C48-F1C9-2BCD301B9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Copula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BBF97-10D3-C875-DAE9-269F4D865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574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i="0" dirty="0">
                <a:solidFill>
                  <a:srgbClr val="060C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Laura B. </a:t>
            </a:r>
            <a:r>
              <a:rPr lang="en-US" sz="2000" i="0" dirty="0" err="1">
                <a:solidFill>
                  <a:srgbClr val="060C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Zwep</a:t>
            </a:r>
            <a:r>
              <a:rPr lang="en-US" sz="2000" i="0" dirty="0">
                <a:solidFill>
                  <a:srgbClr val="060C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0" dirty="0" err="1">
                <a:solidFill>
                  <a:srgbClr val="060C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Tingjie</a:t>
            </a:r>
            <a:r>
              <a:rPr lang="en-US" sz="2000" i="0" dirty="0">
                <a:solidFill>
                  <a:srgbClr val="060C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Guo, Jacqueline J. </a:t>
            </a:r>
            <a:r>
              <a:rPr lang="en-US" sz="2000" i="0" dirty="0" err="1">
                <a:solidFill>
                  <a:srgbClr val="060C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Meulman</a:t>
            </a:r>
            <a:r>
              <a:rPr lang="en-US" sz="2000" i="0" dirty="0">
                <a:solidFill>
                  <a:srgbClr val="060C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J.G. Coen van Hasselt. Copula modeling for realistic virtual patient covariate simulation. PAGE 2022</a:t>
            </a:r>
            <a:endParaRPr lang="en-US" sz="2000" i="0" dirty="0">
              <a:solidFill>
                <a:srgbClr val="1C1D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i="0" dirty="0" err="1">
                <a:solidFill>
                  <a:srgbClr val="1C1D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Zwep</a:t>
            </a:r>
            <a:r>
              <a:rPr lang="en-US" sz="2000" i="0" dirty="0">
                <a:solidFill>
                  <a:srgbClr val="1C1D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L.B., Guo, T., </a:t>
            </a:r>
            <a:r>
              <a:rPr lang="en-US" sz="2000" i="0" dirty="0" err="1">
                <a:solidFill>
                  <a:srgbClr val="1C1D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Nagler</a:t>
            </a:r>
            <a:r>
              <a:rPr lang="en-US" sz="2000" i="0" dirty="0">
                <a:solidFill>
                  <a:srgbClr val="1C1D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T., </a:t>
            </a:r>
            <a:r>
              <a:rPr lang="en-US" sz="2000" i="0" dirty="0" err="1">
                <a:solidFill>
                  <a:srgbClr val="1C1D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Knibbe</a:t>
            </a:r>
            <a:r>
              <a:rPr lang="en-US" sz="2000" i="0" dirty="0">
                <a:solidFill>
                  <a:srgbClr val="1C1D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C.A.J., </a:t>
            </a:r>
            <a:r>
              <a:rPr lang="en-US" sz="2000" i="0" dirty="0" err="1">
                <a:solidFill>
                  <a:srgbClr val="1C1D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Meulman</a:t>
            </a:r>
            <a:r>
              <a:rPr lang="en-US" sz="2000" i="0" dirty="0">
                <a:solidFill>
                  <a:srgbClr val="1C1D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J.J. and van Hasselt, J.G.C. (2024), Virtual Patient Simulation Using Copula Modeling. Clin </a:t>
            </a:r>
            <a:r>
              <a:rPr lang="en-US" sz="2000" i="0" dirty="0" err="1">
                <a:solidFill>
                  <a:srgbClr val="1C1D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Pharmacol</a:t>
            </a:r>
            <a:r>
              <a:rPr lang="en-US" sz="2000" i="0" dirty="0">
                <a:solidFill>
                  <a:srgbClr val="1C1D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1C1D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</a:t>
            </a:r>
            <a:r>
              <a:rPr lang="en-US" sz="2000" i="0" dirty="0">
                <a:solidFill>
                  <a:srgbClr val="1C1D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115: 795-804. </a:t>
            </a:r>
            <a:r>
              <a:rPr lang="en-US" sz="2000" i="0" u="none" strike="noStrike" dirty="0">
                <a:solidFill>
                  <a:srgbClr val="1678A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https://doi.org/10.1002/cpt.3099</a:t>
            </a:r>
            <a:endParaRPr lang="en-US" sz="2000" i="0" u="none" strike="noStrike" dirty="0">
              <a:solidFill>
                <a:srgbClr val="1678A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https://github.com/vanhasseltlab/copula_vps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Guo, Y., Guo, T.,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Knibbe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C.A.J. et al. Generation of realistic virtual adult populations using a model-based copula approach. J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Pharmacokinet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Pharmacodyn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https://doi.org/10.1007/s10928-024-09929-4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https://github.com/vanhasseltlab/NHANES_copula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ShinyAPP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b="0" i="0" dirty="0">
                <a:solidFill>
                  <a:srgbClr val="01324B"/>
                </a:solidFill>
                <a:effectLst/>
                <a:latin typeface="Merriweather" panose="020F0502020204030204" pitchFamily="34" charset="0"/>
                <a:hlinkClick r:id="rId6"/>
              </a:rPr>
              <a:t>https://cocosim.lacdr.leidenuniv.nl/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60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Kiran </a:t>
            </a:r>
            <a:r>
              <a:rPr lang="en-US" sz="2000" dirty="0" err="1">
                <a:solidFill>
                  <a:srgbClr val="060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Karra</a:t>
            </a:r>
            <a:r>
              <a:rPr lang="en-US" sz="2000" dirty="0">
                <a:solidFill>
                  <a:srgbClr val="060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Copula Short Course. </a:t>
            </a:r>
            <a:r>
              <a:rPr lang="en-US" sz="2000" dirty="0" err="1">
                <a:solidFill>
                  <a:srgbClr val="060C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endParaRPr lang="en-US" sz="2000" dirty="0">
              <a:solidFill>
                <a:srgbClr val="060C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rgbClr val="060C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1BEEE-A1A7-57E8-C38D-52BD9A57B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5923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E39B4-D4AE-9104-D73E-62FA239D9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75599-566E-75C3-A6F9-00C23DE9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1646F-C30B-33FB-63BF-3E7C9861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27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8BC365-8051-7354-80C0-03AF7A0C6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100"/>
            <a:ext cx="10515600" cy="4351338"/>
          </a:xfrm>
        </p:spPr>
        <p:txBody>
          <a:bodyPr/>
          <a:lstStyle/>
          <a:p>
            <a:r>
              <a:rPr lang="en-US" dirty="0"/>
              <a:t>Deterministic, stochastic, and virtual population simulations to support exposure-response analysis, exposure matching and dose recommendations. </a:t>
            </a:r>
          </a:p>
          <a:p>
            <a:pPr lvl="1"/>
            <a:r>
              <a:rPr lang="en-US" dirty="0"/>
              <a:t>Details: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`./wk11/homework/homework-wk11.pdf</a:t>
            </a:r>
            <a:r>
              <a:rPr lang="en-US" dirty="0"/>
              <a:t>`</a:t>
            </a:r>
          </a:p>
          <a:p>
            <a:pPr lvl="1"/>
            <a:r>
              <a:rPr lang="en-US" dirty="0"/>
              <a:t>All required documents are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`./wk11/homework/</a:t>
            </a:r>
            <a:r>
              <a:rPr lang="en-US" dirty="0"/>
              <a:t>` directory</a:t>
            </a:r>
          </a:p>
          <a:p>
            <a:r>
              <a:rPr lang="en-US" dirty="0"/>
              <a:t>Make a copy of `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./wk11/ homework-wk11.qmd</a:t>
            </a:r>
            <a:r>
              <a:rPr lang="en-US" dirty="0"/>
              <a:t>` with appropriate rename. Perform all analysis based on this </a:t>
            </a:r>
            <a:r>
              <a:rPr lang="en-US" dirty="0" err="1"/>
              <a:t>qmd</a:t>
            </a:r>
            <a:r>
              <a:rPr lang="en-US" dirty="0"/>
              <a:t> file. Knit into a pdf file for submission.</a:t>
            </a:r>
          </a:p>
          <a:p>
            <a:r>
              <a:rPr lang="en-US" dirty="0"/>
              <a:t>Deadline: </a:t>
            </a:r>
            <a:r>
              <a:rPr lang="en-US" b="1" dirty="0"/>
              <a:t>Dec. 11, 2026</a:t>
            </a:r>
            <a:r>
              <a:rPr lang="en-US" dirty="0"/>
              <a:t> before class (3-week)</a:t>
            </a:r>
          </a:p>
          <a:p>
            <a:r>
              <a:rPr lang="en-US" dirty="0"/>
              <a:t>This assignment will account for </a:t>
            </a:r>
            <a:r>
              <a:rPr lang="en-US" b="1" dirty="0"/>
              <a:t>20%</a:t>
            </a:r>
            <a:r>
              <a:rPr lang="en-US" dirty="0"/>
              <a:t> of the final grade.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9578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1BEF9-FB4D-1E97-3F14-C522B76F9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7A30D1E-F7CA-7A5E-6056-11239C9676F8}"/>
              </a:ext>
            </a:extLst>
          </p:cNvPr>
          <p:cNvSpPr txBox="1"/>
          <p:nvPr/>
        </p:nvSpPr>
        <p:spPr>
          <a:xfrm>
            <a:off x="4934464" y="3013501"/>
            <a:ext cx="24609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8F663E-3581-E05C-C993-4E9146B3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48BB-FAF8-754C-AC6B-D15000126EE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07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7907</TotalTime>
  <Words>1448</Words>
  <Application>Microsoft Macintosh PowerPoint</Application>
  <PresentationFormat>Widescreen</PresentationFormat>
  <Paragraphs>212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Courier New</vt:lpstr>
      <vt:lpstr>Merriweather</vt:lpstr>
      <vt:lpstr>Times New Roman</vt:lpstr>
      <vt:lpstr>Office Theme</vt:lpstr>
      <vt:lpstr>Virtual Patient Simulation</vt:lpstr>
      <vt:lpstr>PowerPoint Presentation</vt:lpstr>
      <vt:lpstr>PowerPoint Presentation</vt:lpstr>
      <vt:lpstr>“Realistic” Virtual Population</vt:lpstr>
      <vt:lpstr>Methods of Virtual Patient Simulations</vt:lpstr>
      <vt:lpstr>Methods of Virtual Patient Simulations</vt:lpstr>
      <vt:lpstr>Distribution-Based Methods</vt:lpstr>
      <vt:lpstr>Population Data</vt:lpstr>
      <vt:lpstr>Experiments</vt:lpstr>
      <vt:lpstr>Marginal Distributions</vt:lpstr>
      <vt:lpstr>Marginal Distributions Simulation Method Evaluation  (Simulation replicates: n=100)</vt:lpstr>
      <vt:lpstr>Marginal Distributions (Final simulation n=1)</vt:lpstr>
      <vt:lpstr>Summary-Marginal Distributions</vt:lpstr>
      <vt:lpstr>Multivariate Normal Distributions</vt:lpstr>
      <vt:lpstr>PowerPoint Presentation</vt:lpstr>
      <vt:lpstr>Multivariate Normal Distributions (Final simulation n=1)</vt:lpstr>
      <vt:lpstr>Summary-Multivariate Normal Distributions</vt:lpstr>
      <vt:lpstr>Copula-Based Virtual Patient Simulation</vt:lpstr>
      <vt:lpstr>Sklar’s Theorem</vt:lpstr>
      <vt:lpstr>Why Copulas? Correlation Is Not Enough</vt:lpstr>
      <vt:lpstr>Why copula? Dependence Beyond Correlation</vt:lpstr>
      <vt:lpstr>Copula-Based Simulation Workflow</vt:lpstr>
      <vt:lpstr>Uniform Marginals Isolate the Dependence Structure</vt:lpstr>
      <vt:lpstr>Copula Modeling Simulation Method Evaluation  (Simulation replicates: n=100)</vt:lpstr>
      <vt:lpstr>Copula Modeling (Final simulation n=1)</vt:lpstr>
      <vt:lpstr>Copula resources</vt:lpstr>
      <vt:lpstr>Homework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 Cheng</dc:creator>
  <cp:lastModifiedBy>Shen Cheng</cp:lastModifiedBy>
  <cp:revision>75</cp:revision>
  <dcterms:created xsi:type="dcterms:W3CDTF">2024-10-16T16:54:57Z</dcterms:created>
  <dcterms:modified xsi:type="dcterms:W3CDTF">2026-10-28T16:42:55Z</dcterms:modified>
</cp:coreProperties>
</file>